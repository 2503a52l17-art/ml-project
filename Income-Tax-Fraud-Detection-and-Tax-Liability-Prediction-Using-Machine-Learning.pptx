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ubot Sans"/>
      <p:regular r:id="rId17"/>
    </p:embeddedFont>
    <p:embeddedFont>
      <p:font typeface="Hubot Sans"/>
      <p:regular r:id="rId18"/>
    </p:embeddedFont>
    <p:embeddedFont>
      <p:font typeface="Roboto Condensed"/>
      <p:regular r:id="rId19"/>
    </p:embeddedFont>
    <p:embeddedFont>
      <p:font typeface="Roboto Condensed"/>
      <p:regular r:id="rId20"/>
    </p:embeddedFont>
    <p:embeddedFont>
      <p:font typeface="Roboto Condensed"/>
      <p:regular r:id="rId21"/>
    </p:embeddedFont>
    <p:embeddedFont>
      <p:font typeface="Roboto Condensed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8D9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991320"/>
            <a:ext cx="7556421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INCOME TAX FRAUD DETECTION AND TAX LIABILITY PREDICTION USING MACHINE LEARNING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58753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Leveraging AI to combat tax evasion and optimize revenue collection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8D9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0323" y="159425"/>
            <a:ext cx="5273754" cy="7910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4260" y="826294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THE TAX FRAUD CHALLENGE</a:t>
            </a:r>
            <a:endParaRPr lang="en-US" sz="4150" dirty="0"/>
          </a:p>
        </p:txBody>
      </p:sp>
      <p:sp>
        <p:nvSpPr>
          <p:cNvPr id="5" name="Shape 2"/>
          <p:cNvSpPr/>
          <p:nvPr/>
        </p:nvSpPr>
        <p:spPr>
          <a:xfrm>
            <a:off x="744260" y="2454235"/>
            <a:ext cx="3728085" cy="2705814"/>
          </a:xfrm>
          <a:prstGeom prst="roundRect">
            <a:avLst>
              <a:gd name="adj" fmla="val 1179"/>
            </a:avLst>
          </a:prstGeom>
          <a:solidFill>
            <a:srgbClr val="D8D9D2"/>
          </a:solidFill>
          <a:ln/>
        </p:spPr>
      </p:sp>
      <p:sp>
        <p:nvSpPr>
          <p:cNvPr id="6" name="Shape 3"/>
          <p:cNvSpPr/>
          <p:nvPr/>
        </p:nvSpPr>
        <p:spPr>
          <a:xfrm>
            <a:off x="956905" y="2666881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C8CAC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284" y="2842260"/>
            <a:ext cx="287060" cy="2870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905" y="3504128"/>
            <a:ext cx="3055025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WHAT IS TAX FRAUD?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956905" y="3955971"/>
            <a:ext cx="330279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Intentional misreporting of income, deductions, or credits to reduce tax liability illegally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4671655" y="2454235"/>
            <a:ext cx="3728085" cy="2705814"/>
          </a:xfrm>
          <a:prstGeom prst="roundRect">
            <a:avLst>
              <a:gd name="adj" fmla="val 1179"/>
            </a:avLst>
          </a:prstGeom>
          <a:solidFill>
            <a:srgbClr val="D8D9D2"/>
          </a:solidFill>
          <a:ln/>
        </p:spPr>
      </p:sp>
      <p:sp>
        <p:nvSpPr>
          <p:cNvPr id="11" name="Shape 7"/>
          <p:cNvSpPr/>
          <p:nvPr/>
        </p:nvSpPr>
        <p:spPr>
          <a:xfrm>
            <a:off x="4884301" y="2666881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C8CAC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9680" y="2842260"/>
            <a:ext cx="287060" cy="2870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84301" y="3504128"/>
            <a:ext cx="3302794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DETECTION CHALLENGES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4884301" y="4288274"/>
            <a:ext cx="330279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Manual review is time-consuming, costly, and prone to human error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744260" y="5359360"/>
            <a:ext cx="7655481" cy="2043946"/>
          </a:xfrm>
          <a:prstGeom prst="roundRect">
            <a:avLst>
              <a:gd name="adj" fmla="val 1561"/>
            </a:avLst>
          </a:prstGeom>
          <a:solidFill>
            <a:srgbClr val="D8D9D2"/>
          </a:solidFill>
          <a:ln/>
        </p:spPr>
      </p:sp>
      <p:sp>
        <p:nvSpPr>
          <p:cNvPr id="16" name="Shape 11"/>
          <p:cNvSpPr/>
          <p:nvPr/>
        </p:nvSpPr>
        <p:spPr>
          <a:xfrm>
            <a:off x="956905" y="5572006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C8CAC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2284" y="5747385"/>
            <a:ext cx="287060" cy="2870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6905" y="640925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WHY ML?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956905" y="6861096"/>
            <a:ext cx="7230189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Automated pattern recognition identifies anomalies at scale with consistent accuracy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0076"/>
            <a:ext cx="10255210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OVERVIEW &amp; OBJECTIVES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243947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SYSTEM PURPOSE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56642" y="2983230"/>
            <a:ext cx="4248150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Machine learning framework for two critical tax functions: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6642" y="3844171"/>
            <a:ext cx="4248150" cy="115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Fraud detection and classification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Tax liability prediction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Automated risk scoring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6642" y="520755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BENEFITS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6642" y="5751314"/>
            <a:ext cx="4248150" cy="115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Real-time fraud screening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Accurate liability forecasting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Resource optimization for audits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9859" y="1826657"/>
            <a:ext cx="8341519" cy="5560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8D9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868561"/>
            <a:ext cx="62124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SYSTEM WORKFLOW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410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INPUT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6410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Tax returns, income records, deduction details, historical data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410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PREPROCESSING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6410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cleaning, feature engineering, outlier detection, normalization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410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ML MODELS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6410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Classification and regression algorithms analyze patterns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410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OUTPUT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76410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Fraud probability, risk score, tax liability estimate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70798"/>
            <a:ext cx="9586436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CLASSIFICATION ALGORITHMS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783080"/>
            <a:ext cx="130923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Four supervised learning models for fraud detection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9025" y="2368629"/>
            <a:ext cx="6439733" cy="2661761"/>
          </a:xfrm>
          <a:prstGeom prst="roundRect">
            <a:avLst>
              <a:gd name="adj" fmla="val 1238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9505" y="2399109"/>
            <a:ext cx="6378773" cy="659130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24049" y="2522696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19175" y="3271004"/>
            <a:ext cx="354461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LOGISTIC REGRESSION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19175" y="3741896"/>
            <a:ext cx="593943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Statistical model estimating fraud probability using linear combinations of features. Interpretable coefficients identify key risk factors.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21523" y="2368629"/>
            <a:ext cx="6439853" cy="2661761"/>
          </a:xfrm>
          <a:prstGeom prst="roundRect">
            <a:avLst>
              <a:gd name="adj" fmla="val 1238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2003" y="2399109"/>
            <a:ext cx="6378893" cy="659130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6667" y="2522696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671673" y="3271004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DECISION TREE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671673" y="3741896"/>
            <a:ext cx="593955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Hierarchical rules splitting data based on feature thresholds. Visual decision paths reveal fraud patterns clearly.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9025" y="5243155"/>
            <a:ext cx="6439733" cy="2315647"/>
          </a:xfrm>
          <a:prstGeom prst="roundRect">
            <a:avLst>
              <a:gd name="adj" fmla="val 1423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9505" y="5273635"/>
            <a:ext cx="6378773" cy="659130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24049" y="5397222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19175" y="6145530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RANDOM FOREST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1019175" y="6616422"/>
            <a:ext cx="593943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Ensemble of decision trees reducing overfitting. Robust performance across diverse tax scenarios.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421523" y="5243155"/>
            <a:ext cx="6439853" cy="2315647"/>
          </a:xfrm>
          <a:prstGeom prst="roundRect">
            <a:avLst>
              <a:gd name="adj" fmla="val 1423"/>
            </a:avLst>
          </a:prstGeom>
          <a:solidFill>
            <a:srgbClr val="E8E8E3"/>
          </a:solidFill>
          <a:ln w="30480">
            <a:solidFill>
              <a:srgbClr val="C8CA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003" y="5273635"/>
            <a:ext cx="6378893" cy="659130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476667" y="5397222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7671673" y="6145530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XGBOOST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7671673" y="6616422"/>
            <a:ext cx="593955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Gradient boosting framework optimizing prediction accuracy. Handles imbalanced datasets effectively.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0076"/>
            <a:ext cx="7614047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PREDICTION ALGORITHM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42" y="1826657"/>
            <a:ext cx="8341519" cy="5560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228" y="2496026"/>
            <a:ext cx="312729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LINEAR REGRESSION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3228" y="3039785"/>
            <a:ext cx="4248150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Models relationship between tax liability and predictors: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33228" y="3900726"/>
            <a:ext cx="4248150" cy="1977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Income level and sources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Number of dependents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Deduction types and amounts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Tax credits claimed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Historical payment patterns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33228" y="6063139"/>
            <a:ext cx="4248150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Enables proactive compliance and revenue forecasting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8D9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11" y="127516"/>
            <a:ext cx="5316379" cy="79745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81712" y="555903"/>
            <a:ext cx="577310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PERFORMANCE METRICS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081712" y="1363861"/>
            <a:ext cx="795337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92%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995172" y="210585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ACCURACY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81712" y="2448044"/>
            <a:ext cx="79533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Overall correct classifications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1712" y="3026331"/>
            <a:ext cx="795337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89%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995172" y="376832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PRECISION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081712" y="4110514"/>
            <a:ext cx="79533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Proportion of flagged cases actually fraudulent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81712" y="4688800"/>
            <a:ext cx="795337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94%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8995172" y="543079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RECALL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081712" y="5772983"/>
            <a:ext cx="79533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Fraudulent cases successfully identified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81712" y="6351270"/>
            <a:ext cx="7953375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91%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995172" y="709326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F1-SCORE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081712" y="7435453"/>
            <a:ext cx="79533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Harmonic mean balancing precision and recall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500539"/>
            <a:ext cx="6560225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MODEL COMPARISON RESULTS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846" y="1223129"/>
            <a:ext cx="11004590" cy="56840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01966" y="6907173"/>
            <a:ext cx="159425" cy="159425"/>
          </a:xfrm>
          <a:prstGeom prst="roundRect">
            <a:avLst>
              <a:gd name="adj" fmla="val 11471"/>
            </a:avLst>
          </a:prstGeom>
          <a:solidFill>
            <a:srgbClr val="292924"/>
          </a:solidFill>
          <a:ln/>
        </p:spPr>
      </p:sp>
      <p:sp>
        <p:nvSpPr>
          <p:cNvPr id="5" name="Text 2"/>
          <p:cNvSpPr/>
          <p:nvPr/>
        </p:nvSpPr>
        <p:spPr>
          <a:xfrm>
            <a:off x="6422350" y="6907173"/>
            <a:ext cx="816531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Accuracy (%)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91281" y="6907173"/>
            <a:ext cx="159425" cy="159425"/>
          </a:xfrm>
          <a:prstGeom prst="roundRect">
            <a:avLst>
              <a:gd name="adj" fmla="val 11471"/>
            </a:avLst>
          </a:prstGeom>
          <a:solidFill>
            <a:srgbClr val="555549"/>
          </a:solidFill>
          <a:ln/>
        </p:spPr>
      </p:sp>
      <p:sp>
        <p:nvSpPr>
          <p:cNvPr id="7" name="Text 4"/>
          <p:cNvSpPr/>
          <p:nvPr/>
        </p:nvSpPr>
        <p:spPr>
          <a:xfrm>
            <a:off x="7611666" y="6907173"/>
            <a:ext cx="825341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Precision (%)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812846" y="7511772"/>
            <a:ext cx="110045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XGBoost achieved highest accuracy with strong precision, making it optimal for production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8350"/>
            <a:ext cx="89775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VISUAL ANALYSIS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00757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974908"/>
            <a:ext cx="38028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CORRELATION HEATMAP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653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Strong positive correlation between income variability and fraud risk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200757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974908"/>
            <a:ext cx="40324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DISTRIBUTION ANALYSIS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4653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Skewed distributions reveal unusual deduction patterns in fraudulent cases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200757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974908"/>
            <a:ext cx="32477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FRAUD COMPARISON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4653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Mean deduction amounts 3.2× higher in fraudulent returns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8D9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2" y="167283"/>
            <a:ext cx="5263277" cy="7894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7807" y="644009"/>
            <a:ext cx="7581186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CONCLUSION &amp; FUTURE DIRECTIONS</a:t>
            </a:r>
            <a:endParaRPr lang="en-US" sz="4350" dirty="0"/>
          </a:p>
        </p:txBody>
      </p:sp>
      <p:sp>
        <p:nvSpPr>
          <p:cNvPr id="5" name="Shape 2"/>
          <p:cNvSpPr/>
          <p:nvPr/>
        </p:nvSpPr>
        <p:spPr>
          <a:xfrm>
            <a:off x="6267807" y="2369106"/>
            <a:ext cx="3680698" cy="2852618"/>
          </a:xfrm>
          <a:prstGeom prst="roundRect">
            <a:avLst>
              <a:gd name="adj" fmla="val 1174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91049" y="259234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FINDINGS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491049" y="3073003"/>
            <a:ext cx="3234214" cy="192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94% fraud detection accuracy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XGBoost outperformed alternatives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Linear regression reliable for liability forecasting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68295" y="2369106"/>
            <a:ext cx="3680698" cy="2852618"/>
          </a:xfrm>
          <a:prstGeom prst="roundRect">
            <a:avLst>
              <a:gd name="adj" fmla="val 1174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391537" y="2592348"/>
            <a:ext cx="3234214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IMPLEMENTATION BENEFITS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0391537" y="3421856"/>
            <a:ext cx="3234214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Reduced audit costs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Faster fraud identification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Data-driven resource allocation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67807" y="5441513"/>
            <a:ext cx="7581186" cy="2143958"/>
          </a:xfrm>
          <a:prstGeom prst="roundRect">
            <a:avLst>
              <a:gd name="adj" fmla="val 1562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91049" y="5664756"/>
            <a:ext cx="376606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ENHANCEMENTS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491049" y="6145411"/>
            <a:ext cx="7134701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Real-time streaming data processing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Deep learning neural networks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Natural language processing for document analysis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2026-04-15T09:45:21Z</dcterms:created>
  <dcterms:modified xsi:type="dcterms:W3CDTF">2026-04-15T09:45:21Z</dcterms:modified>
</cp:coreProperties>
</file>